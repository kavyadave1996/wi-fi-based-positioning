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ti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 bookmarkIdSeed="2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531" r:id="rId3"/>
  </p:sldIdLst>
  <p:sldSz cx="9144000" cy="5715000" type="screen16x10"/>
  <p:notesSz cx="9926638" cy="6797675"/>
  <p:embeddedFontLst>
    <p:embeddedFont>
      <p:font typeface="ＭＳ Ｐゴシック" panose="020B0600070205080204" pitchFamily="34" charset="-128"/>
      <p:regular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Poppins" panose="00000500000000000000" pitchFamily="2" charset="0"/>
      <p:regular r:id="rId11"/>
      <p:bold r:id="rId12"/>
      <p:italic r:id="rId13"/>
      <p:boldItalic r:id="rId14"/>
    </p:embeddedFont>
    <p:embeddedFont>
      <p:font typeface="Poppins Regular" panose="00000500000000000000" pitchFamily="2" charset="0"/>
      <p:regular r:id="rId15"/>
    </p:embeddedFont>
    <p:embeddedFont>
      <p:font typeface="Syntax LT" panose="02000503020000020004" pitchFamily="2" charset="0"/>
      <p:regular r:id="rId16"/>
      <p:bold r:id="rId17"/>
      <p:italic r:id="rId18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UHH" initials="TUHH" lastIdx="1" clrIdx="0">
    <p:extLst>
      <p:ext uri="{19B8F6BF-5375-455C-9EA6-DF929625EA0E}">
        <p15:presenceInfo xmlns:p15="http://schemas.microsoft.com/office/powerpoint/2012/main" userId="TUH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A0C1E8"/>
    <a:srgbClr val="E4EDF8"/>
    <a:srgbClr val="0075EA"/>
    <a:srgbClr val="275EAF"/>
    <a:srgbClr val="286228"/>
    <a:srgbClr val="91B4E7"/>
    <a:srgbClr val="00C1D4"/>
    <a:srgbClr val="B4CBEE"/>
    <a:srgbClr val="2A67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Φωτεινό στυλ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Φωτεινό στυλ 1 - Έμφαση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Χωρίς στυλ, πλέγμα πίνακα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Μεσαίο στυλ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Φωτεινό στυλ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B4B98B0-60AC-42C2-AFA5-B58CD77FA1E5}" styleName="Φωτεινό στυλ 1 - Έμφαση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511" autoAdjust="0"/>
    <p:restoredTop sz="89645" autoAdjust="0"/>
  </p:normalViewPr>
  <p:slideViewPr>
    <p:cSldViewPr>
      <p:cViewPr>
        <p:scale>
          <a:sx n="95" d="100"/>
          <a:sy n="95" d="100"/>
        </p:scale>
        <p:origin x="774" y="810"/>
      </p:cViewPr>
      <p:guideLst>
        <p:guide orient="horz" pos="180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30" d="100"/>
          <a:sy n="130" d="100"/>
        </p:scale>
        <p:origin x="738" y="12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font" Target="fonts/font10.fntdata"/><Relationship Id="rId23" Type="http://schemas.openxmlformats.org/officeDocument/2006/relationships/tableStyles" Target="tableStyles.xml"/><Relationship Id="rId10" Type="http://schemas.openxmlformats.org/officeDocument/2006/relationships/font" Target="fonts/font5.fntdata"/><Relationship Id="rId19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3" y="9"/>
            <a:ext cx="4302625" cy="340265"/>
          </a:xfrm>
          <a:prstGeom prst="rect">
            <a:avLst/>
          </a:prstGeom>
        </p:spPr>
        <p:txBody>
          <a:bodyPr vert="horz" lIns="91451" tIns="45724" rIns="91451" bIns="45724" rtlCol="0"/>
          <a:lstStyle>
            <a:lvl1pPr algn="l">
              <a:defRPr sz="11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701" y="9"/>
            <a:ext cx="4302625" cy="340265"/>
          </a:xfrm>
          <a:prstGeom prst="rect">
            <a:avLst/>
          </a:prstGeom>
        </p:spPr>
        <p:txBody>
          <a:bodyPr vert="horz" lIns="91451" tIns="45724" rIns="91451" bIns="45724" rtlCol="0"/>
          <a:lstStyle>
            <a:lvl1pPr algn="r">
              <a:defRPr sz="1100"/>
            </a:lvl1pPr>
          </a:lstStyle>
          <a:p>
            <a:fld id="{A2AEF9DC-1605-41EE-B045-4790006C3E95}" type="datetimeFigureOut">
              <a:rPr lang="de-DE" smtClean="0"/>
              <a:t>16.04.2025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3" y="6456328"/>
            <a:ext cx="4302625" cy="340264"/>
          </a:xfrm>
          <a:prstGeom prst="rect">
            <a:avLst/>
          </a:prstGeom>
        </p:spPr>
        <p:txBody>
          <a:bodyPr vert="horz" lIns="91451" tIns="45724" rIns="91451" bIns="45724" rtlCol="0" anchor="b"/>
          <a:lstStyle>
            <a:lvl1pPr algn="l">
              <a:defRPr sz="11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701" y="6456328"/>
            <a:ext cx="4302625" cy="340264"/>
          </a:xfrm>
          <a:prstGeom prst="rect">
            <a:avLst/>
          </a:prstGeom>
        </p:spPr>
        <p:txBody>
          <a:bodyPr vert="horz" lIns="91451" tIns="45724" rIns="91451" bIns="45724" rtlCol="0" anchor="b"/>
          <a:lstStyle>
            <a:lvl1pPr algn="r">
              <a:defRPr sz="1100"/>
            </a:lvl1pPr>
          </a:lstStyle>
          <a:p>
            <a:fld id="{2B2778A1-3459-439C-9127-B395E7C7CA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49077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7" y="4"/>
            <a:ext cx="4301543" cy="339884"/>
          </a:xfrm>
          <a:prstGeom prst="rect">
            <a:avLst/>
          </a:prstGeom>
        </p:spPr>
        <p:txBody>
          <a:bodyPr vert="horz" lIns="91451" tIns="45724" rIns="91451" bIns="45724" rtlCol="0"/>
          <a:lstStyle>
            <a:lvl1pPr algn="l">
              <a:defRPr sz="11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2813" y="4"/>
            <a:ext cx="4301543" cy="339884"/>
          </a:xfrm>
          <a:prstGeom prst="rect">
            <a:avLst/>
          </a:prstGeom>
        </p:spPr>
        <p:txBody>
          <a:bodyPr vert="horz" lIns="91451" tIns="45724" rIns="91451" bIns="45724" rtlCol="0"/>
          <a:lstStyle>
            <a:lvl1pPr algn="r">
              <a:defRPr sz="1100"/>
            </a:lvl1pPr>
          </a:lstStyle>
          <a:p>
            <a:fld id="{A6AC1540-8D7D-472F-B3AF-FD4228784FB9}" type="datetimeFigureOut">
              <a:rPr lang="de-DE" smtClean="0"/>
              <a:t>16.04.2025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922588" y="506413"/>
            <a:ext cx="4081462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51" tIns="45724" rIns="91451" bIns="45724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666" y="3228900"/>
            <a:ext cx="7941310" cy="3058954"/>
          </a:xfrm>
          <a:prstGeom prst="rect">
            <a:avLst/>
          </a:prstGeom>
        </p:spPr>
        <p:txBody>
          <a:bodyPr vert="horz" lIns="91451" tIns="45724" rIns="91451" bIns="45724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7" y="6456616"/>
            <a:ext cx="4301543" cy="339884"/>
          </a:xfrm>
          <a:prstGeom prst="rect">
            <a:avLst/>
          </a:prstGeom>
        </p:spPr>
        <p:txBody>
          <a:bodyPr vert="horz" lIns="91451" tIns="45724" rIns="91451" bIns="45724" rtlCol="0" anchor="b"/>
          <a:lstStyle>
            <a:lvl1pPr algn="l">
              <a:defRPr sz="11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2813" y="6456616"/>
            <a:ext cx="4301543" cy="339884"/>
          </a:xfrm>
          <a:prstGeom prst="rect">
            <a:avLst/>
          </a:prstGeom>
        </p:spPr>
        <p:txBody>
          <a:bodyPr vert="horz" lIns="91451" tIns="45724" rIns="91451" bIns="45724" rtlCol="0" anchor="b"/>
          <a:lstStyle>
            <a:lvl1pPr algn="r">
              <a:defRPr sz="1100"/>
            </a:lvl1pPr>
          </a:lstStyle>
          <a:p>
            <a:fld id="{9797E860-8A2F-4082-9950-E9973EB88E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7738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922588" y="506413"/>
            <a:ext cx="4081462" cy="25511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054"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97E860-8A2F-4082-9950-E9973EB88E19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0884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97E860-8A2F-4082-9950-E9973EB88E19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1428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ti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/>
          <p:cNvSpPr>
            <a:spLocks noChangeArrowheads="1"/>
          </p:cNvSpPr>
          <p:nvPr userDrawn="1"/>
        </p:nvSpPr>
        <p:spPr bwMode="auto">
          <a:xfrm>
            <a:off x="-162272" y="-73698"/>
            <a:ext cx="9306272" cy="5862398"/>
          </a:xfrm>
          <a:prstGeom prst="rect">
            <a:avLst/>
          </a:prstGeom>
          <a:solidFill>
            <a:srgbClr val="0033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800">
                <a:solidFill>
                  <a:schemeClr val="tx1"/>
                </a:solidFill>
                <a:latin typeface="Linotype Syntax Com" charset="0"/>
                <a:ea typeface="ＭＳ Ｐゴシック" charset="-128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Linotype Syntax Com" charset="0"/>
                <a:ea typeface="ＭＳ Ｐゴシック" charset="-128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Linotype Syntax Com" charset="0"/>
                <a:ea typeface="ＭＳ Ｐゴシック" charset="-128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Linotype Syntax Com" charset="0"/>
                <a:ea typeface="ＭＳ Ｐゴシック" charset="-128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Linotype Syntax Com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Linotype Syntax Com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Linotype Syntax Com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Linotype Syntax Com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Linotype Syntax Com" charset="0"/>
                <a:ea typeface="ＭＳ Ｐゴシック" charset="-128"/>
              </a:defRPr>
            </a:lvl9pPr>
          </a:lstStyle>
          <a:p>
            <a:pPr>
              <a:defRPr/>
            </a:pPr>
            <a:endParaRPr lang="de-DE" altLang="de-DE" sz="667" dirty="0">
              <a:solidFill>
                <a:schemeClr val="bg1"/>
              </a:solidFill>
              <a:latin typeface="Syntax LT" panose="02000503020000020004" pitchFamily="2" charset="0"/>
              <a:cs typeface="Arial" panose="020B0604020202020204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 userDrawn="1"/>
        </p:nvSpPr>
        <p:spPr>
          <a:xfrm>
            <a:off x="322040" y="1606069"/>
            <a:ext cx="8748488" cy="1323439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Linotype Syntax Com Bold" panose="020B0804020202020204" pitchFamily="34" charset="0"/>
                <a:ea typeface="+mj-ea"/>
                <a:cs typeface="+mj-cs"/>
              </a:defRPr>
            </a:lvl1pPr>
          </a:lstStyle>
          <a:p>
            <a:pPr algn="l">
              <a:spcAft>
                <a:spcPts val="1200"/>
              </a:spcAft>
            </a:pPr>
            <a:r>
              <a:rPr lang="de-DE" sz="3000" u="sng" dirty="0">
                <a:latin typeface="Syntax LT" panose="02000503020000020004" pitchFamily="2" charset="0"/>
                <a:cs typeface="Poppins" panose="00000500000000000000" pitchFamily="2" charset="0"/>
              </a:rPr>
              <a:t>Prof. Dr.-Ing. Kay Smarsly</a:t>
            </a:r>
          </a:p>
          <a:p>
            <a:pPr algn="l"/>
            <a:r>
              <a:rPr lang="de-DE" sz="4000" b="1" dirty="0">
                <a:latin typeface="Syntax LT" panose="02000503020000020004" pitchFamily="2" charset="0"/>
                <a:cs typeface="Poppins" panose="00000500000000000000" pitchFamily="2" charset="0"/>
              </a:rPr>
              <a:t>Digitale Zwillinge im Bauwesen</a:t>
            </a:r>
            <a:endParaRPr lang="de-DE" sz="4000" b="1" dirty="0">
              <a:highlight>
                <a:srgbClr val="FFFF00"/>
              </a:highlight>
              <a:latin typeface="Syntax LT" panose="02000503020000020004" pitchFamily="2" charset="0"/>
              <a:cs typeface="Poppins" panose="00000500000000000000" pitchFamily="2" charset="0"/>
            </a:endParaRPr>
          </a:p>
        </p:txBody>
      </p:sp>
      <p:sp>
        <p:nvSpPr>
          <p:cNvPr id="10" name="Rectangle 4"/>
          <p:cNvSpPr txBox="1">
            <a:spLocks noChangeArrowheads="1"/>
          </p:cNvSpPr>
          <p:nvPr userDrawn="1"/>
        </p:nvSpPr>
        <p:spPr>
          <a:xfrm>
            <a:off x="322040" y="174040"/>
            <a:ext cx="8669500" cy="52322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LTSyntax Regular" panose="02000503040000020004" pitchFamily="2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None/>
              <a:defRPr/>
            </a:pPr>
            <a:r>
              <a:rPr lang="de-DE" sz="1400" noProof="0" dirty="0">
                <a:latin typeface="Syntax LT" panose="02000503020000020004" pitchFamily="2" charset="0"/>
                <a:cs typeface="Poppins" panose="00000500000000000000" pitchFamily="2" charset="0"/>
              </a:rPr>
              <a:t>Nordrhein-Westfälische Akademie der Wissenschaften und der Künste, Düsseldorf, 12.03.2025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de-DE" sz="1400" noProof="0" dirty="0">
                <a:latin typeface="Syntax LT" panose="02000503020000020004" pitchFamily="2" charset="0"/>
                <a:cs typeface="Poppins" panose="00000500000000000000" pitchFamily="2" charset="0"/>
              </a:rPr>
              <a:t>Thementag „Digital Twins“</a:t>
            </a:r>
            <a:endParaRPr lang="de-DE" sz="1400" dirty="0">
              <a:latin typeface="Syntax LT" panose="02000503020000020004" pitchFamily="2" charset="0"/>
              <a:cs typeface="Poppins" panose="00000500000000000000" pitchFamily="2" charset="0"/>
            </a:endParaRPr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>
          <a:xfrm>
            <a:off x="2898616" y="3801446"/>
            <a:ext cx="5765388" cy="1661993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LTSyntax Regular" panose="02000503040000020004" pitchFamily="2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8161" algn="l"/>
              </a:tabLst>
              <a:defRPr/>
            </a:pPr>
            <a:r>
              <a:rPr lang="de-DE" sz="1700" baseline="0" noProof="0" dirty="0">
                <a:latin typeface="Syntax LT" panose="02000503020000020004" pitchFamily="2" charset="0"/>
                <a:cs typeface="Poppins" panose="00000500000000000000" pitchFamily="2" charset="0"/>
              </a:rPr>
              <a:t>Prof. Dr.-Ing. Kay Smarsly</a:t>
            </a:r>
          </a:p>
          <a:p>
            <a:pPr marL="0" marR="0" indent="0" algn="r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8161" algn="l"/>
              </a:tabLst>
              <a:defRPr/>
            </a:pPr>
            <a:r>
              <a:rPr lang="de-DE" sz="1700" baseline="0" noProof="0" dirty="0">
                <a:latin typeface="Syntax LT" panose="02000503020000020004" pitchFamily="2" charset="0"/>
                <a:cs typeface="Poppins" panose="00000500000000000000" pitchFamily="2" charset="0"/>
              </a:rPr>
              <a:t>Institut für Digitales und Autonomes Bauen</a:t>
            </a:r>
          </a:p>
          <a:p>
            <a:pPr marL="0" marR="0" indent="0" algn="r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8161" algn="l"/>
              </a:tabLst>
              <a:defRPr/>
            </a:pPr>
            <a:r>
              <a:rPr lang="de-DE" sz="1700" baseline="0" noProof="0" dirty="0">
                <a:latin typeface="Syntax LT" panose="02000503020000020004" pitchFamily="2" charset="0"/>
                <a:cs typeface="Poppins" panose="00000500000000000000" pitchFamily="2" charset="0"/>
              </a:rPr>
              <a:t>Technische Universität Hamburg</a:t>
            </a:r>
          </a:p>
          <a:p>
            <a:pPr marL="0" indent="0" algn="r">
              <a:spcBef>
                <a:spcPts val="0"/>
              </a:spcBef>
              <a:buNone/>
              <a:tabLst>
                <a:tab pos="148161" algn="l"/>
              </a:tabLst>
              <a:defRPr/>
            </a:pPr>
            <a:r>
              <a:rPr lang="de-DE" sz="1700" baseline="0" noProof="0" dirty="0">
                <a:latin typeface="Syntax LT" panose="02000503020000020004" pitchFamily="2" charset="0"/>
                <a:cs typeface="Poppins" panose="00000500000000000000" pitchFamily="2" charset="0"/>
              </a:rPr>
              <a:t>Blohmstraße 15</a:t>
            </a:r>
          </a:p>
          <a:p>
            <a:pPr marL="0" indent="0" algn="r">
              <a:spcBef>
                <a:spcPts val="0"/>
              </a:spcBef>
              <a:buNone/>
              <a:tabLst>
                <a:tab pos="148161" algn="l"/>
              </a:tabLst>
              <a:defRPr/>
            </a:pPr>
            <a:r>
              <a:rPr lang="de-DE" sz="1700" baseline="0" noProof="0" dirty="0">
                <a:latin typeface="Syntax LT" panose="02000503020000020004" pitchFamily="2" charset="0"/>
                <a:cs typeface="Poppins" panose="00000500000000000000" pitchFamily="2" charset="0"/>
              </a:rPr>
              <a:t>21079 Hamburg</a:t>
            </a:r>
          </a:p>
          <a:p>
            <a:pPr marL="0" indent="0" algn="r">
              <a:spcBef>
                <a:spcPts val="0"/>
              </a:spcBef>
              <a:buNone/>
              <a:tabLst>
                <a:tab pos="148161" algn="l"/>
              </a:tabLst>
              <a:defRPr/>
            </a:pPr>
            <a:r>
              <a:rPr lang="de-DE" sz="1700" baseline="0" noProof="0" dirty="0">
                <a:latin typeface="Syntax LT" panose="02000503020000020004" pitchFamily="2" charset="0"/>
                <a:cs typeface="Poppins" panose="00000500000000000000" pitchFamily="2" charset="0"/>
              </a:rPr>
              <a:t>kay.smarsly@tuhh.de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4ECB648-852D-4E70-B2AA-08D4EA447D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1" b="1905"/>
          <a:stretch/>
        </p:blipFill>
        <p:spPr>
          <a:xfrm>
            <a:off x="432370" y="4898293"/>
            <a:ext cx="916870" cy="576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CD92957-69D7-4A44-801A-5EA4BFB92D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52196" y="4903056"/>
            <a:ext cx="1679644" cy="474469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4C489C8-2EE3-4644-A915-2837A4EFCE27}"/>
              </a:ext>
            </a:extLst>
          </p:cNvPr>
          <p:cNvSpPr/>
          <p:nvPr userDrawn="1"/>
        </p:nvSpPr>
        <p:spPr>
          <a:xfrm rot="16200000">
            <a:off x="698995" y="5256526"/>
            <a:ext cx="45723" cy="22059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9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C9AE4680-70B1-47C7-9080-F439B398E5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" b="3701"/>
          <a:stretch/>
        </p:blipFill>
        <p:spPr>
          <a:xfrm>
            <a:off x="418083" y="4895889"/>
            <a:ext cx="954339" cy="5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076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5"/>
          <p:cNvSpPr txBox="1">
            <a:spLocks noChangeArrowheads="1"/>
          </p:cNvSpPr>
          <p:nvPr userDrawn="1"/>
        </p:nvSpPr>
        <p:spPr>
          <a:xfrm>
            <a:off x="1835696" y="5188468"/>
            <a:ext cx="7407636" cy="36933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defRPr sz="800" kern="1200">
                <a:solidFill>
                  <a:schemeClr val="tx1"/>
                </a:solidFill>
                <a:latin typeface="Linotype Syntax Com Regular" pitchFamily="34" charset="0"/>
                <a:ea typeface="ＭＳ Ｐゴシック" charset="-128"/>
                <a:cs typeface="+mn-cs"/>
              </a:defRPr>
            </a:lvl1pPr>
            <a:lvl2pPr marL="742950" indent="-285750" algn="l" defTabSz="914400" rtl="0" eaLnBrk="1" latinLnBrk="0" hangingPunct="1">
              <a:lnSpc>
                <a:spcPts val="1800"/>
              </a:lnSpc>
              <a:spcBef>
                <a:spcPct val="20000"/>
              </a:spcBef>
              <a:buFont typeface="Linotype Syntax Com" charset="0"/>
              <a:buChar char="•"/>
              <a:defRPr sz="1400" kern="1200">
                <a:solidFill>
                  <a:schemeClr val="tx1"/>
                </a:solidFill>
                <a:latin typeface="Linotype Syntax Com" charset="0"/>
                <a:ea typeface="ＭＳ Ｐゴシック" charset="-128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defRPr sz="1200" kern="1200">
                <a:solidFill>
                  <a:schemeClr val="tx1"/>
                </a:solidFill>
                <a:latin typeface="Linotype Syntax Com" charset="0"/>
                <a:ea typeface="ＭＳ Ｐゴシック" charset="-128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har char="–"/>
              <a:defRPr sz="1200" kern="1200">
                <a:solidFill>
                  <a:schemeClr val="tx1"/>
                </a:solidFill>
                <a:latin typeface="Linotype Syntax Com" charset="0"/>
                <a:ea typeface="ＭＳ Ｐゴシック" charset="-128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har char="»"/>
              <a:defRPr sz="1200" kern="1200">
                <a:solidFill>
                  <a:schemeClr val="tx1"/>
                </a:solidFill>
                <a:latin typeface="Linotype Syntax Com" charset="0"/>
                <a:ea typeface="ＭＳ Ｐゴシック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chemeClr val="tx1"/>
                </a:solidFill>
                <a:latin typeface="Linotype Syntax Com" charset="0"/>
                <a:ea typeface="ＭＳ Ｐゴシック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chemeClr val="tx1"/>
                </a:solidFill>
                <a:latin typeface="Linotype Syntax Com" charset="0"/>
                <a:ea typeface="ＭＳ Ｐゴシック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chemeClr val="tx1"/>
                </a:solidFill>
                <a:latin typeface="Linotype Syntax Com" charset="0"/>
                <a:ea typeface="ＭＳ Ｐゴシック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chemeClr val="tx1"/>
                </a:solidFill>
                <a:latin typeface="Linotype Syntax Com" charset="0"/>
                <a:ea typeface="ＭＳ Ｐゴシック" charset="-128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de-DE" sz="900" noProof="0" dirty="0">
                <a:latin typeface="Syntax LT" panose="02000503020000020004" pitchFamily="2" charset="0"/>
                <a:cs typeface="Poppins" panose="00000500000000000000" pitchFamily="2" charset="0"/>
              </a:rPr>
              <a:t>Prof. Dr.-Ing. Kay Smarsly – Digitale Zwillinge im Bauwesen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de-DE" sz="900" noProof="0" dirty="0">
                <a:latin typeface="Syntax LT" panose="02000503020000020004" pitchFamily="2" charset="0"/>
                <a:cs typeface="Poppins" panose="00000500000000000000" pitchFamily="2" charset="0"/>
              </a:rPr>
              <a:t>NRW Akademie der Wissenschaften und der Künste, Thementag „Digital Twins“ – Düsseldorf, 12.03.2025 </a:t>
            </a:r>
          </a:p>
        </p:txBody>
      </p:sp>
      <p:sp>
        <p:nvSpPr>
          <p:cNvPr id="11" name="Rectangle 7"/>
          <p:cNvSpPr>
            <a:spLocks noChangeArrowheads="1"/>
          </p:cNvSpPr>
          <p:nvPr userDrawn="1"/>
        </p:nvSpPr>
        <p:spPr bwMode="auto">
          <a:xfrm>
            <a:off x="0" y="0"/>
            <a:ext cx="9144000" cy="769268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63500" dist="25400" dir="5400000" sx="101000" sy="101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800">
                <a:solidFill>
                  <a:schemeClr val="tx1"/>
                </a:solidFill>
                <a:latin typeface="Linotype Syntax Com" charset="0"/>
                <a:ea typeface="ＭＳ Ｐゴシック" charset="-128"/>
              </a:defRPr>
            </a:lvl1pPr>
            <a:lvl2pPr marL="742950" indent="-285750">
              <a:defRPr sz="800">
                <a:solidFill>
                  <a:schemeClr val="tx1"/>
                </a:solidFill>
                <a:latin typeface="Linotype Syntax Com" charset="0"/>
                <a:ea typeface="ＭＳ Ｐゴシック" charset="-128"/>
              </a:defRPr>
            </a:lvl2pPr>
            <a:lvl3pPr marL="1143000" indent="-228600">
              <a:defRPr sz="800">
                <a:solidFill>
                  <a:schemeClr val="tx1"/>
                </a:solidFill>
                <a:latin typeface="Linotype Syntax Com" charset="0"/>
                <a:ea typeface="ＭＳ Ｐゴシック" charset="-128"/>
              </a:defRPr>
            </a:lvl3pPr>
            <a:lvl4pPr marL="1600200" indent="-228600">
              <a:defRPr sz="800">
                <a:solidFill>
                  <a:schemeClr val="tx1"/>
                </a:solidFill>
                <a:latin typeface="Linotype Syntax Com" charset="0"/>
                <a:ea typeface="ＭＳ Ｐゴシック" charset="-128"/>
              </a:defRPr>
            </a:lvl4pPr>
            <a:lvl5pPr marL="2057400" indent="-228600">
              <a:defRPr sz="800">
                <a:solidFill>
                  <a:schemeClr val="tx1"/>
                </a:solidFill>
                <a:latin typeface="Linotype Syntax Com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Linotype Syntax Com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Linotype Syntax Com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Linotype Syntax Com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Linotype Syntax Com" charset="0"/>
                <a:ea typeface="ＭＳ Ｐゴシック" charset="-128"/>
              </a:defRPr>
            </a:lvl9pPr>
          </a:lstStyle>
          <a:p>
            <a:pPr>
              <a:defRPr/>
            </a:pPr>
            <a:endParaRPr lang="de-DE" altLang="de-DE" sz="667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 userDrawn="1"/>
        </p:nvSpPr>
        <p:spPr>
          <a:xfrm>
            <a:off x="8316416" y="5351911"/>
            <a:ext cx="576064" cy="20588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 anchorCtr="0"/>
          <a:lstStyle>
            <a:defPPr>
              <a:defRPr lang="de-DE"/>
            </a:defPPr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defRPr sz="800" kern="1200">
                <a:solidFill>
                  <a:schemeClr val="tx1"/>
                </a:solidFill>
                <a:latin typeface="Linotype Syntax Com Regular" pitchFamily="34" charset="0"/>
                <a:ea typeface="ＭＳ Ｐゴシック" charset="-128"/>
                <a:cs typeface="+mn-cs"/>
              </a:defRPr>
            </a:lvl1pPr>
            <a:lvl2pPr marL="742950" indent="-285750" algn="l" defTabSz="914400" rtl="0" eaLnBrk="1" latinLnBrk="0" hangingPunct="1">
              <a:lnSpc>
                <a:spcPts val="1800"/>
              </a:lnSpc>
              <a:spcBef>
                <a:spcPct val="20000"/>
              </a:spcBef>
              <a:buFont typeface="Linotype Syntax Com" charset="0"/>
              <a:buChar char="•"/>
              <a:defRPr sz="1400" kern="1200">
                <a:solidFill>
                  <a:schemeClr val="tx1"/>
                </a:solidFill>
                <a:latin typeface="Linotype Syntax Com" charset="0"/>
                <a:ea typeface="ＭＳ Ｐゴシック" charset="-128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defRPr sz="1200" kern="1200">
                <a:solidFill>
                  <a:schemeClr val="tx1"/>
                </a:solidFill>
                <a:latin typeface="Linotype Syntax Com" charset="0"/>
                <a:ea typeface="ＭＳ Ｐゴシック" charset="-128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har char="–"/>
              <a:defRPr sz="1200" kern="1200">
                <a:solidFill>
                  <a:schemeClr val="tx1"/>
                </a:solidFill>
                <a:latin typeface="Linotype Syntax Com" charset="0"/>
                <a:ea typeface="ＭＳ Ｐゴシック" charset="-128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har char="»"/>
              <a:defRPr sz="1200" kern="1200">
                <a:solidFill>
                  <a:schemeClr val="tx1"/>
                </a:solidFill>
                <a:latin typeface="Linotype Syntax Com" charset="0"/>
                <a:ea typeface="ＭＳ Ｐゴシック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chemeClr val="tx1"/>
                </a:solidFill>
                <a:latin typeface="Linotype Syntax Com" charset="0"/>
                <a:ea typeface="ＭＳ Ｐゴシック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chemeClr val="tx1"/>
                </a:solidFill>
                <a:latin typeface="Linotype Syntax Com" charset="0"/>
                <a:ea typeface="ＭＳ Ｐゴシック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chemeClr val="tx1"/>
                </a:solidFill>
                <a:latin typeface="Linotype Syntax Com" charset="0"/>
                <a:ea typeface="ＭＳ Ｐゴシック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chemeClr val="tx1"/>
                </a:solidFill>
                <a:latin typeface="Linotype Syntax Com" charset="0"/>
                <a:ea typeface="ＭＳ Ｐゴシック" charset="-128"/>
                <a:cs typeface="+mn-cs"/>
              </a:defRPr>
            </a:lvl9pPr>
          </a:lstStyle>
          <a:p>
            <a:pPr algn="r">
              <a:defRPr/>
            </a:pPr>
            <a:fld id="{50C426AD-8DF6-4F7D-9F62-308FBBC1D574}" type="slidenum">
              <a:rPr lang="de-DE" altLang="de-DE" sz="900" smtClean="0">
                <a:latin typeface="Syntax LT" panose="02000503020000020004" pitchFamily="2" charset="0"/>
                <a:cs typeface="Poppins" panose="00000500000000000000" pitchFamily="2" charset="0"/>
              </a:rPr>
              <a:t>‹Nr.›</a:t>
            </a:fld>
            <a:endParaRPr lang="de-DE" altLang="de-DE" sz="900" dirty="0">
              <a:latin typeface="Syntax LT" panose="02000503020000020004" pitchFamily="2" charset="0"/>
              <a:cs typeface="Poppins" panose="00000500000000000000" pitchFamily="2" charset="0"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EA5AB03C-0342-413D-B2DA-F436DA47EC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5261998"/>
            <a:ext cx="792088" cy="22407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E697FAE-D9B4-42AB-AC2E-997CFD4DF1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6143" y="5261999"/>
            <a:ext cx="485808" cy="3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31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2934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761970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7619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761970" rtl="0" eaLnBrk="1" latinLnBrk="0" hangingPunct="1">
        <a:spcBef>
          <a:spcPct val="20000"/>
        </a:spcBef>
        <a:buFont typeface="Arial" panose="020B0604020202020204" pitchFamily="34" charset="0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spcBef>
          <a:spcPct val="20000"/>
        </a:spcBef>
        <a:buFont typeface="Arial" panose="020B0604020202020204" pitchFamily="34" charset="0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9813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 1">
            <a:extLst>
              <a:ext uri="{FF2B5EF4-FFF2-40B4-BE49-F238E27FC236}">
                <a16:creationId xmlns:a16="http://schemas.microsoft.com/office/drawing/2014/main" id="{C9A29DFA-D760-404C-989D-B512BB2B0889}"/>
              </a:ext>
            </a:extLst>
          </p:cNvPr>
          <p:cNvSpPr txBox="1">
            <a:spLocks/>
          </p:cNvSpPr>
          <p:nvPr/>
        </p:nvSpPr>
        <p:spPr>
          <a:xfrm>
            <a:off x="284068" y="976000"/>
            <a:ext cx="8628032" cy="26468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500" kern="1200" spc="4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44500" indent="-266700">
              <a:tabLst>
                <a:tab pos="449263" algn="l"/>
              </a:tabLst>
            </a:pPr>
            <a:endParaRPr lang="en-US" sz="1800" dirty="0">
              <a:solidFill>
                <a:schemeClr val="tx1"/>
              </a:solidFill>
              <a:latin typeface="Syntax LT" panose="02000503020000020004" pitchFamily="2" charset="0"/>
              <a:cs typeface="Poppins Regular" panose="00000500000000000000" pitchFamily="2" charset="0"/>
              <a:sym typeface="Wingdings" panose="05000000000000000000" pitchFamily="2" charset="2"/>
            </a:endParaRPr>
          </a:p>
          <a:p>
            <a:pPr marL="444500" indent="-266700">
              <a:tabLst>
                <a:tab pos="449263" algn="l"/>
              </a:tabLst>
            </a:pPr>
            <a:endParaRPr lang="en-US" sz="1000" dirty="0">
              <a:solidFill>
                <a:schemeClr val="tx1"/>
              </a:solidFill>
              <a:latin typeface="Syntax LT" panose="02000503020000020004" pitchFamily="2" charset="0"/>
              <a:cs typeface="Poppins Regular" panose="00000500000000000000" pitchFamily="2" charset="0"/>
              <a:sym typeface="Wingdings" panose="05000000000000000000" pitchFamily="2" charset="2"/>
            </a:endParaRPr>
          </a:p>
          <a:p>
            <a:pPr marL="444500" indent="-266700">
              <a:tabLst>
                <a:tab pos="449263" algn="l"/>
              </a:tabLst>
            </a:pPr>
            <a:endParaRPr lang="en-US" sz="1800" dirty="0">
              <a:solidFill>
                <a:schemeClr val="tx1"/>
              </a:solidFill>
              <a:latin typeface="Syntax LT" panose="02000503020000020004" pitchFamily="2" charset="0"/>
              <a:cs typeface="Poppins Regular" panose="00000500000000000000" pitchFamily="2" charset="0"/>
              <a:sym typeface="Wingdings" panose="05000000000000000000" pitchFamily="2" charset="2"/>
            </a:endParaRPr>
          </a:p>
          <a:p>
            <a:pPr marL="177800">
              <a:tabLst>
                <a:tab pos="449263" algn="l"/>
              </a:tabLst>
            </a:pPr>
            <a:r>
              <a:rPr lang="en-US" sz="1800" dirty="0">
                <a:solidFill>
                  <a:schemeClr val="tx1"/>
                </a:solidFill>
                <a:latin typeface="Syntax LT" panose="02000503020000020004" pitchFamily="2" charset="0"/>
                <a:cs typeface="Poppins Regular" panose="00000500000000000000" pitchFamily="2" charset="0"/>
                <a:sym typeface="Wingdings" panose="05000000000000000000" pitchFamily="2" charset="2"/>
              </a:rPr>
              <a:t>	Note 1: Automated formatting is not enabled when you add new elements, as  	do not have time for this </a:t>
            </a:r>
            <a:r>
              <a:rPr lang="en-US" sz="1800" dirty="0" err="1">
                <a:solidFill>
                  <a:schemeClr val="tx1"/>
                </a:solidFill>
                <a:latin typeface="Syntax LT" panose="02000503020000020004" pitchFamily="2" charset="0"/>
                <a:cs typeface="Poppins Regular" panose="00000500000000000000" pitchFamily="2" charset="0"/>
                <a:sym typeface="Wingdings" panose="05000000000000000000" pitchFamily="2" charset="2"/>
              </a:rPr>
              <a:t>hiwi</a:t>
            </a:r>
            <a:r>
              <a:rPr lang="en-US" sz="1800" dirty="0">
                <a:solidFill>
                  <a:schemeClr val="tx1"/>
                </a:solidFill>
                <a:latin typeface="Syntax LT" panose="02000503020000020004" pitchFamily="2" charset="0"/>
                <a:cs typeface="Poppins Regular" panose="00000500000000000000" pitchFamily="2" charset="0"/>
                <a:sym typeface="Wingdings" panose="05000000000000000000" pitchFamily="2" charset="2"/>
              </a:rPr>
              <a:t> work (we will define a new template in the near 	future anyway); in this template, simply copy and paste existing elements</a:t>
            </a:r>
          </a:p>
          <a:p>
            <a:pPr marL="177800">
              <a:tabLst>
                <a:tab pos="449263" algn="l"/>
              </a:tabLst>
            </a:pPr>
            <a:r>
              <a:rPr lang="de-DE" sz="1800" dirty="0">
                <a:solidFill>
                  <a:schemeClr val="tx1"/>
                </a:solidFill>
                <a:latin typeface="Syntax LT" panose="02000503020000020004" pitchFamily="2" charset="0"/>
                <a:cs typeface="Poppins Regular" panose="00000500000000000000" pitchFamily="2" charset="0"/>
                <a:sym typeface="Wingdings" panose="05000000000000000000" pitchFamily="2" charset="2"/>
              </a:rPr>
              <a:t>	Note 2</a:t>
            </a:r>
            <a:r>
              <a:rPr lang="en-US" sz="1800" dirty="0">
                <a:solidFill>
                  <a:schemeClr val="tx1"/>
                </a:solidFill>
                <a:latin typeface="Syntax LT" panose="02000503020000020004" pitchFamily="2" charset="0"/>
                <a:cs typeface="Poppins Regular" panose="00000500000000000000" pitchFamily="2" charset="0"/>
                <a:sym typeface="Wingdings" panose="05000000000000000000" pitchFamily="2" charset="2"/>
              </a:rPr>
              <a:t>: Needless to say that you ensure </a:t>
            </a:r>
          </a:p>
          <a:p>
            <a:pPr marL="177800">
              <a:tabLst>
                <a:tab pos="449263" algn="l"/>
              </a:tabLst>
            </a:pPr>
            <a:r>
              <a:rPr lang="en-US" sz="1800" dirty="0">
                <a:solidFill>
                  <a:schemeClr val="tx1"/>
                </a:solidFill>
                <a:latin typeface="Syntax LT" panose="02000503020000020004" pitchFamily="2" charset="0"/>
                <a:cs typeface="Poppins Regular" panose="00000500000000000000" pitchFamily="2" charset="0"/>
              </a:rPr>
              <a:t>	having installed the fonts and not having </a:t>
            </a:r>
          </a:p>
          <a:p>
            <a:pPr marL="177800">
              <a:tabLst>
                <a:tab pos="449263" algn="l"/>
              </a:tabLst>
            </a:pPr>
            <a:r>
              <a:rPr lang="en-US" sz="1800" dirty="0">
                <a:solidFill>
                  <a:schemeClr val="tx1"/>
                </a:solidFill>
                <a:latin typeface="Syntax LT" panose="02000503020000020004" pitchFamily="2" charset="0"/>
                <a:cs typeface="Poppins Regular" panose="00000500000000000000" pitchFamily="2" charset="0"/>
              </a:rPr>
              <a:t>	figures compressed (and all other such basic </a:t>
            </a:r>
          </a:p>
          <a:p>
            <a:pPr marL="177800">
              <a:tabLst>
                <a:tab pos="449263" algn="l"/>
              </a:tabLst>
            </a:pPr>
            <a:r>
              <a:rPr lang="en-US" sz="1800" dirty="0">
                <a:solidFill>
                  <a:schemeClr val="tx1"/>
                </a:solidFill>
                <a:latin typeface="Syntax LT" panose="02000503020000020004" pitchFamily="2" charset="0"/>
                <a:cs typeface="Poppins Regular" panose="00000500000000000000" pitchFamily="2" charset="0"/>
              </a:rPr>
              <a:t>	tasks accomplished first)</a:t>
            </a:r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0CF701BF-7290-444A-927D-AC11C363DA7E}"/>
              </a:ext>
            </a:extLst>
          </p:cNvPr>
          <p:cNvSpPr txBox="1">
            <a:spLocks/>
          </p:cNvSpPr>
          <p:nvPr/>
        </p:nvSpPr>
        <p:spPr>
          <a:xfrm>
            <a:off x="284068" y="976000"/>
            <a:ext cx="8628032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500" kern="1200" spc="4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7800" indent="-177800">
              <a:buFont typeface="Arial" panose="020B0604020202020204" pitchFamily="34" charset="0"/>
              <a:buChar char="•"/>
              <a:tabLst>
                <a:tab pos="449263" algn="l"/>
              </a:tabLst>
            </a:pPr>
            <a:endParaRPr lang="de-DE" sz="1800" dirty="0">
              <a:solidFill>
                <a:schemeClr val="tx1"/>
              </a:solidFill>
              <a:latin typeface="Syntax LT" panose="02000503020000020004" pitchFamily="2" charset="0"/>
              <a:cs typeface="Poppins Regular" panose="00000500000000000000" pitchFamily="2" charset="0"/>
            </a:endParaRPr>
          </a:p>
          <a:p>
            <a:pPr marL="177800" indent="-177800">
              <a:buFont typeface="Arial" panose="020B0604020202020204" pitchFamily="34" charset="0"/>
              <a:buChar char="•"/>
              <a:tabLst>
                <a:tab pos="449263" algn="l"/>
              </a:tabLst>
            </a:pPr>
            <a:endParaRPr lang="de-DE" sz="1000" dirty="0">
              <a:solidFill>
                <a:schemeClr val="tx1"/>
              </a:solidFill>
              <a:latin typeface="Syntax LT" panose="02000503020000020004" pitchFamily="2" charset="0"/>
              <a:cs typeface="Poppins Regular" panose="00000500000000000000" pitchFamily="2" charset="0"/>
            </a:endParaRPr>
          </a:p>
          <a:p>
            <a:pPr marL="177800" indent="-177800">
              <a:buFont typeface="Arial" panose="020B0604020202020204" pitchFamily="34" charset="0"/>
              <a:buChar char="•"/>
              <a:tabLst>
                <a:tab pos="449263" algn="l"/>
              </a:tabLst>
            </a:pPr>
            <a:r>
              <a:rPr lang="de-DE" sz="1800" dirty="0">
                <a:solidFill>
                  <a:schemeClr val="tx1"/>
                </a:solidFill>
                <a:latin typeface="Syntax LT" panose="02000503020000020004" pitchFamily="2" charset="0"/>
                <a:cs typeface="Poppins Regular" panose="00000500000000000000" pitchFamily="2" charset="0"/>
              </a:rPr>
              <a:t>More </a:t>
            </a:r>
            <a:r>
              <a:rPr lang="de-DE" sz="1800" dirty="0" err="1">
                <a:solidFill>
                  <a:schemeClr val="tx1"/>
                </a:solidFill>
                <a:latin typeface="Syntax LT" panose="02000503020000020004" pitchFamily="2" charset="0"/>
                <a:cs typeface="Poppins Regular" panose="00000500000000000000" pitchFamily="2" charset="0"/>
              </a:rPr>
              <a:t>text</a:t>
            </a:r>
            <a:endParaRPr lang="de-DE" sz="1800" dirty="0">
              <a:solidFill>
                <a:schemeClr val="tx1"/>
              </a:solidFill>
              <a:latin typeface="Syntax LT" panose="02000503020000020004" pitchFamily="2" charset="0"/>
              <a:cs typeface="Poppins Regular" panose="00000500000000000000" pitchFamily="2" charset="0"/>
            </a:endParaRP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162FD703-764C-4C1D-9974-8EE2B3A06941}"/>
              </a:ext>
            </a:extLst>
          </p:cNvPr>
          <p:cNvSpPr txBox="1">
            <a:spLocks/>
          </p:cNvSpPr>
          <p:nvPr/>
        </p:nvSpPr>
        <p:spPr>
          <a:xfrm>
            <a:off x="284068" y="197058"/>
            <a:ext cx="8594600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500" kern="1200" spc="4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600" b="1" dirty="0">
                <a:solidFill>
                  <a:schemeClr val="bg1"/>
                </a:solidFill>
                <a:latin typeface="Syntax LT" panose="02000503020000020004" pitchFamily="2" charset="0"/>
                <a:cs typeface="Poppins Regular" panose="00000500000000000000" pitchFamily="2" charset="0"/>
              </a:rPr>
              <a:t>Text</a:t>
            </a:r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942594AC-3A44-4B02-AE0C-9ACAD8BF9EDB}"/>
              </a:ext>
            </a:extLst>
          </p:cNvPr>
          <p:cNvSpPr txBox="1">
            <a:spLocks/>
          </p:cNvSpPr>
          <p:nvPr/>
        </p:nvSpPr>
        <p:spPr>
          <a:xfrm>
            <a:off x="284068" y="976000"/>
            <a:ext cx="862803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500" kern="1200" spc="4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800" b="1" dirty="0">
                <a:solidFill>
                  <a:schemeClr val="tx1"/>
                </a:solidFill>
                <a:latin typeface="Syntax LT" panose="02000503020000020004" pitchFamily="2" charset="0"/>
                <a:cs typeface="Poppins Regular" panose="00000500000000000000" pitchFamily="2" charset="0"/>
              </a:rPr>
              <a:t>Text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05CAB82C-B8AD-4057-9F49-F3EDE96E2A79}"/>
              </a:ext>
            </a:extLst>
          </p:cNvPr>
          <p:cNvSpPr txBox="1">
            <a:spLocks/>
          </p:cNvSpPr>
          <p:nvPr/>
        </p:nvSpPr>
        <p:spPr>
          <a:xfrm>
            <a:off x="7889875" y="4652704"/>
            <a:ext cx="950104" cy="22659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500" kern="1200" spc="4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de-DE" sz="1000" dirty="0">
                <a:solidFill>
                  <a:srgbClr val="003366"/>
                </a:solidFill>
                <a:latin typeface="Syntax LT" panose="02000503020000020004" pitchFamily="2" charset="0"/>
                <a:cs typeface="Poppins Regular" panose="00000500000000000000" pitchFamily="2" charset="0"/>
              </a:rPr>
              <a:t>Source: [1]</a:t>
            </a:r>
            <a:endParaRPr lang="de-DE" sz="1000" b="1" i="1" dirty="0">
              <a:solidFill>
                <a:srgbClr val="003366"/>
              </a:solidFill>
              <a:latin typeface="Syntax LT" panose="02000503020000020004" pitchFamily="2" charset="0"/>
              <a:cs typeface="Poppins Regular" panose="00000500000000000000" pitchFamily="2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6F3CF02-B199-4719-9503-CCD1FB3D1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686997"/>
            <a:ext cx="2768934" cy="1954544"/>
          </a:xfrm>
          <a:prstGeom prst="rect">
            <a:avLst/>
          </a:prstGeom>
          <a:ln>
            <a:solidFill>
              <a:srgbClr val="00336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9338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9" grpId="0"/>
    </p:bldLst>
  </p:timing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94</Words>
  <Application>Microsoft Office PowerPoint</Application>
  <PresentationFormat>Bildschirmpräsentation (16:10)</PresentationFormat>
  <Paragraphs>16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10" baseType="lpstr">
      <vt:lpstr>Arial</vt:lpstr>
      <vt:lpstr>Calibri</vt:lpstr>
      <vt:lpstr>Poppins</vt:lpstr>
      <vt:lpstr>ＭＳ Ｐゴシック</vt:lpstr>
      <vt:lpstr>Poppins Regular</vt:lpstr>
      <vt:lpstr>Wingdings</vt:lpstr>
      <vt:lpstr>Syntax LT</vt:lpstr>
      <vt:lpstr>Larissa</vt:lpstr>
      <vt:lpstr>PowerPoint-Präsentation</vt:lpstr>
      <vt:lpstr>PowerPoint-Präsentation</vt:lpstr>
    </vt:vector>
  </TitlesOfParts>
  <Company>BUW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Kay Smarsly</dc:creator>
  <cp:lastModifiedBy>KS</cp:lastModifiedBy>
  <cp:revision>1766</cp:revision>
  <cp:lastPrinted>2016-02-12T12:12:53Z</cp:lastPrinted>
  <dcterms:created xsi:type="dcterms:W3CDTF">2014-06-02T08:08:25Z</dcterms:created>
  <dcterms:modified xsi:type="dcterms:W3CDTF">2025-04-16T10:00:47Z</dcterms:modified>
</cp:coreProperties>
</file>